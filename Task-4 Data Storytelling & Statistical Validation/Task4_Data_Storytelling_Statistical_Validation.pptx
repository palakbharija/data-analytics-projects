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Medium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76.834</c:v>
                </c:pt>
                <c:pt idx="1">
                  <c:v>56.937</c:v>
                </c:pt>
                <c:pt idx="2">
                  <c:v>5.628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Customer Segment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Sales (₹ million)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E2FA"/>
                </a:solidFill>
              </a:defRPr>
            </a:pPr>
            <a:r>
              <a:t>TASK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4980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Storytelling &amp;</a:t>
            </a:r>
            <a:br/>
            <a:r>
              <a:t>Statistical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889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7E2FA"/>
                </a:solidFill>
              </a:defRPr>
            </a:pPr>
            <a:r>
              <a:t>Customer Sales &amp; Segmentation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310128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 business-focused story built from the Task 1–3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08760"/>
            <a:ext cx="1051560" cy="2011680"/>
          </a:xfrm>
          <a:prstGeom prst="roundRect">
            <a:avLst/>
          </a:prstGeom>
          <a:solidFill>
            <a:srgbClr val="5B4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828800"/>
            <a:ext cx="905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514600"/>
            <a:ext cx="905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₹139.40M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508760"/>
            <a:ext cx="1051560" cy="2011680"/>
          </a:xfrm>
          <a:prstGeom prst="round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45752" y="1828800"/>
            <a:ext cx="905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2514600"/>
            <a:ext cx="905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947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40" y="1508760"/>
            <a:ext cx="1051560" cy="2011680"/>
          </a:xfrm>
          <a:prstGeom prst="roundRect">
            <a:avLst/>
          </a:prstGeom>
          <a:solidFill>
            <a:srgbClr val="E6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80192" y="1828800"/>
            <a:ext cx="905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0192" y="2514600"/>
            <a:ext cx="905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E2FA"/>
                </a:solidFill>
              </a:defRPr>
            </a:pPr>
            <a:r>
              <a:t>Prepared for stakeholder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143A"/>
                </a:solidFill>
              </a:defRPr>
            </a:pPr>
            <a:r>
              <a:t>What does the sales data tell 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Understand overall sales and customer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Identify which customer groups create the most business value.</a:t>
            </a:r>
          </a:p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Find the strongest categories, cities and sales periods.</a:t>
            </a:r>
          </a:p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Turn the analysis into actions for customer retention and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325880"/>
            <a:ext cx="4800600" cy="434340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6916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49A4"/>
                </a:solidFill>
              </a:defRPr>
            </a:pPr>
            <a:r>
              <a:t>THE STORY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148840"/>
            <a:ext cx="4069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62630"/>
                </a:solidFill>
              </a:defRPr>
            </a:pPr>
            <a:r>
              <a:t>A relatively small high-value customer group contributes the majority of sales, making customer-focused strategies more important than treating every customer the same.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4251960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73"/>
                </a:solidFill>
              </a:defRPr>
            </a:pPr>
            <a:r>
              <a:t>The dashboard makes this pattern easy to explore through segment, category, city, month, gender and age-group filters.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Dataset &amp; Core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43A"/>
                </a:solidFill>
              </a:defRPr>
            </a:pPr>
            <a: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630"/>
                </a:solidFill>
              </a:defRPr>
            </a:pPr>
            <a:r>
              <a:t>• 1,000 transaction records from 2025.</a:t>
            </a:r>
          </a:p>
          <a:p>
            <a:pPr>
              <a:spcAft>
                <a:spcPts val="1000"/>
              </a:spcAft>
              <a:defRPr sz="1600">
                <a:solidFill>
                  <a:srgbClr val="262630"/>
                </a:solidFill>
              </a:defRPr>
            </a:pPr>
            <a:r>
              <a:t>• 947 unique customers and 992 unique orders.</a:t>
            </a:r>
          </a:p>
          <a:p>
            <a:pPr>
              <a:spcAft>
                <a:spcPts val="1000"/>
              </a:spcAft>
              <a:defRPr sz="1600">
                <a:solidFill>
                  <a:srgbClr val="262630"/>
                </a:solidFill>
              </a:defRPr>
            </a:pPr>
            <a:r>
              <a:t>• 8 cities and 5 product categories.</a:t>
            </a:r>
          </a:p>
          <a:p>
            <a:pPr>
              <a:spcAft>
                <a:spcPts val="1000"/>
              </a:spcAft>
              <a:defRPr sz="1600">
                <a:solidFill>
                  <a:srgbClr val="262630"/>
                </a:solidFill>
              </a:defRPr>
            </a:pPr>
            <a:r>
              <a:t>• Key fields include customer details, category, quantity, date and total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234440"/>
            <a:ext cx="2240280" cy="132588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6752" y="1353312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6973"/>
                </a:solidFill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1618488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43A"/>
                </a:solidFill>
              </a:defRPr>
            </a:pPr>
            <a:r>
              <a:t>₹139.40M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249424"/>
            <a:ext cx="1911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6973"/>
                </a:solidFill>
              </a:defRPr>
            </a:pPr>
            <a:r>
              <a:t>SUM(Total Sales)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34440"/>
            <a:ext cx="2240280" cy="132588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1353312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6973"/>
                </a:solidFill>
              </a:defRPr>
            </a:pPr>
            <a:r>
              <a:t>Total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618488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43A"/>
                </a:solidFill>
              </a:defRPr>
            </a:pPr>
            <a:r>
              <a:t>992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249424"/>
            <a:ext cx="1911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6973"/>
                </a:solidFill>
              </a:defRPr>
            </a:pPr>
            <a:r>
              <a:t>DISTINCTCOUNT(Order ID)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880360"/>
            <a:ext cx="2240280" cy="132588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2999232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6973"/>
                </a:solidFill>
              </a:defRPr>
            </a:pPr>
            <a:r>
              <a:t>Total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264408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43A"/>
                </a:solidFill>
              </a:defRPr>
            </a:pPr>
            <a:r>
              <a:t>947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3895344"/>
            <a:ext cx="1911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6973"/>
                </a:solidFill>
              </a:defRPr>
            </a:pPr>
            <a:r>
              <a:t>DISTINCTCOUNT(Customer ID)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880360"/>
            <a:ext cx="2240280" cy="132588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2999232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6973"/>
                </a:solidFill>
              </a:defRPr>
            </a:pPr>
            <a:r>
              <a:t>Average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264408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43A"/>
                </a:solidFill>
              </a:defRPr>
            </a:pPr>
            <a:r>
              <a:t>₹140.52K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895344"/>
            <a:ext cx="1911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6973"/>
                </a:solidFill>
              </a:defRPr>
            </a:pPr>
            <a:r>
              <a:t>Total Sales ÷ Total 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526280"/>
            <a:ext cx="2240280" cy="132588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4645152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6973"/>
                </a:solidFill>
              </a:defRPr>
            </a:pPr>
            <a:r>
              <a:t>Average Customer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4910328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43A"/>
                </a:solidFill>
              </a:defRPr>
            </a:pPr>
            <a:r>
              <a:t>₹147.20K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5541264"/>
            <a:ext cx="1911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6973"/>
                </a:solidFill>
              </a:defRPr>
            </a:pPr>
            <a:r>
              <a:t>Total Sales ÷ Total 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Deep-Dive: Customer Value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630"/>
                </a:solidFill>
              </a:defRPr>
            </a:pPr>
            <a:r>
              <a:t>Customers were ranked by total customer sales and divided into three value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37560" cy="1965960"/>
          </a:xfrm>
          <a:prstGeom prst="roundRect">
            <a:avLst/>
          </a:prstGeom>
          <a:solidFill>
            <a:srgbClr val="F7F7FA"/>
          </a:solidFill>
          <a:ln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79669"/>
                </a:solidFill>
              </a:defRPr>
            </a:pPr>
            <a:r>
              <a:t>High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2630"/>
                </a:solidFill>
              </a:defRPr>
            </a:pPr>
            <a:r>
              <a:t>236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143A"/>
                </a:solidFill>
              </a:defRPr>
            </a:pPr>
            <a:r>
              <a:t>₹76.83M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1965960"/>
          </a:xfrm>
          <a:prstGeom prst="roundRect">
            <a:avLst/>
          </a:prstGeom>
          <a:solidFill>
            <a:srgbClr val="F7F7FA"/>
          </a:solidFill>
          <a:ln>
            <a:solidFill>
              <a:srgbClr val="5B4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49A4"/>
                </a:solidFill>
              </a:defRPr>
            </a:pPr>
            <a:r>
              <a:t>Medium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2630"/>
                </a:solidFill>
              </a:defRPr>
            </a:pPr>
            <a:r>
              <a:t>474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143A"/>
                </a:solidFill>
              </a:defRPr>
            </a:pPr>
            <a:r>
              <a:t>₹56.94M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1965960"/>
          </a:xfrm>
          <a:prstGeom prst="roundRect">
            <a:avLst/>
          </a:prstGeom>
          <a:solidFill>
            <a:srgbClr val="F7F7FA"/>
          </a:solidFill>
          <a:ln>
            <a:solidFill>
              <a:srgbClr val="E6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F37"/>
                </a:solidFill>
              </a:defRPr>
            </a:pPr>
            <a:r>
              <a:t>Low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2630"/>
                </a:solidFill>
              </a:defRPr>
            </a:pPr>
            <a:r>
              <a:t>237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143A"/>
                </a:solidFill>
              </a:defRPr>
            </a:pPr>
            <a:r>
              <a:t>₹5.63M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96973"/>
                </a:solidFill>
              </a:defRPr>
            </a:pPr>
            <a:r>
              <a:t>Share of total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5871578" cy="50292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36008"/>
            <a:ext cx="5871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55.1%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3098" y="4526280"/>
            <a:ext cx="4351103" cy="502920"/>
          </a:xfrm>
          <a:prstGeom prst="rect">
            <a:avLst/>
          </a:prstGeom>
          <a:solidFill>
            <a:srgbClr val="5B4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3098" y="4636008"/>
            <a:ext cx="43511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40.8%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54201" y="4526280"/>
            <a:ext cx="430078" cy="502920"/>
          </a:xfrm>
          <a:prstGeom prst="rect">
            <a:avLst/>
          </a:prstGeom>
          <a:solidFill>
            <a:srgbClr val="E6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43A"/>
                </a:solidFill>
              </a:defRPr>
            </a:pPr>
            <a:r>
              <a:t>Key point: High Value customers are only about 25% of customers but generate about 55% of sales.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What the Dashboard Reveals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5303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9875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143A"/>
                </a:solidFill>
              </a:defRPr>
            </a:pPr>
            <a:r>
              <a:t>Sales by customer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43A"/>
                </a:solidFill>
              </a:defRPr>
            </a:pPr>
            <a:r>
              <a:t>Main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630"/>
                </a:solidFill>
              </a:defRPr>
            </a:pPr>
            <a:r>
              <a:t>• High Value is the strongest segment by sales.</a:t>
            </a:r>
          </a:p>
          <a:p>
            <a:pPr>
              <a:spcAft>
                <a:spcPts val="1000"/>
              </a:spcAft>
              <a:defRPr sz="1700">
                <a:solidFill>
                  <a:srgbClr val="262630"/>
                </a:solidFill>
              </a:defRPr>
            </a:pPr>
            <a:r>
              <a:t>• Electronics is the leading category within High Value customers.</a:t>
            </a:r>
          </a:p>
          <a:p>
            <a:pPr>
              <a:spcAft>
                <a:spcPts val="1000"/>
              </a:spcAft>
              <a:defRPr sz="1700">
                <a:solidFill>
                  <a:srgbClr val="262630"/>
                </a:solidFill>
              </a:defRPr>
            </a:pPr>
            <a:r>
              <a:t>• Bengaluru is the leading city for High Value customer sales.</a:t>
            </a:r>
          </a:p>
          <a:p>
            <a:pPr>
              <a:spcAft>
                <a:spcPts val="1000"/>
              </a:spcAft>
              <a:defRPr sz="1700">
                <a:solidFill>
                  <a:srgbClr val="262630"/>
                </a:solidFill>
              </a:defRPr>
            </a:pPr>
            <a:r>
              <a:t>• March is the highest-sales month; September is the lowest.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92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6973"/>
                </a:solidFill>
              </a:defRPr>
            </a:pPr>
            <a:r>
              <a:t>This suggests focusing retention and cross-selling efforts on high-value customers, especially around the strongest categories and locations.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Statistical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43A"/>
                </a:solidFill>
              </a:defRPr>
            </a:pPr>
            <a:r>
              <a:t>Business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630"/>
                </a:solidFill>
              </a:defRPr>
            </a:pPr>
            <a:r>
              <a:t>H₀: The average sales value of Electronics orders is equal to that of non-Electronics orders.</a:t>
            </a:r>
            <a:br/>
            <a:r>
              <a:t>H₁: The two average sales values are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49A4"/>
                </a:solidFill>
              </a:defRPr>
            </a:pPr>
            <a:r>
              <a:t>Test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43A"/>
                </a:solidFill>
              </a:defRPr>
            </a:pPr>
            <a:r>
              <a:t>Welch independent-samples t-test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25880"/>
            <a:ext cx="5166360" cy="425196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49A4"/>
                </a:solidFill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43A"/>
                </a:solidFill>
              </a:defRPr>
            </a:pPr>
            <a:r>
              <a:t>p-value = 0.414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30"/>
                </a:solidFill>
              </a:defRPr>
            </a:pPr>
            <a:r>
              <a:t>95% CI for mean difference:</a:t>
            </a:r>
            <a:br/>
            <a:r>
              <a:t>−₹8,764 to +₹21,281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977639"/>
            <a:ext cx="4160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9669"/>
                </a:solidFill>
              </a:defRPr>
            </a:pPr>
            <a:r>
              <a:t>Decision: Do not reject H₀ at the 5% significance level.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73"/>
                </a:solidFill>
              </a:defRPr>
            </a:pPr>
            <a:r>
              <a:t>Interpretation: Electronics has the highest total sales, but its average order sales are not statistically different from non-Electronics orders in this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Business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789920" cy="96012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075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43A"/>
                </a:solidFill>
              </a:defRPr>
            </a:pPr>
            <a:r>
              <a:t>Protect High Value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289304"/>
            <a:ext cx="7269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30"/>
                </a:solidFill>
              </a:defRPr>
            </a:pPr>
            <a:r>
              <a:t>Use targeted retention offers, personalised communication and early access to relevant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10789920" cy="96012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43A"/>
                </a:solidFill>
              </a:defRPr>
            </a:pPr>
            <a:r>
              <a:t>Push Electronics strategically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523744"/>
            <a:ext cx="7269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30"/>
                </a:solidFill>
              </a:defRPr>
            </a:pPr>
            <a:r>
              <a:t>Electronics leads category sales, so bundles and cross-selling can be tested without assuming its average order value is statistically higher.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10789920" cy="96012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43A"/>
                </a:solidFill>
              </a:defRPr>
            </a:pPr>
            <a:r>
              <a:t>Use city-level targeting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758184"/>
            <a:ext cx="7269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30"/>
                </a:solidFill>
              </a:defRPr>
            </a:pPr>
            <a:r>
              <a:t>Prioritise Bengaluru and other high-value locations for focused campaigns and inventory planning.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46320"/>
            <a:ext cx="10789920" cy="960120"/>
          </a:xfrm>
          <a:prstGeom prst="roundRect">
            <a:avLst/>
          </a:prstGeom>
          <a:solidFill>
            <a:srgbClr val="F7F7FA"/>
          </a:solidFill>
          <a:ln>
            <a:solidFill>
              <a:srgbClr val="E7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10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43A"/>
                </a:solidFill>
              </a:defRPr>
            </a:pPr>
            <a:r>
              <a:t>Plan around sales seasonality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92624"/>
            <a:ext cx="7269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30"/>
                </a:solidFill>
              </a:defRPr>
            </a:pPr>
            <a:r>
              <a:t>Use March as a strong benchmark and investigate the September dip before allocating promotional budgets.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Conclusion &amp; 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143A"/>
                </a:solidFill>
              </a:defRPr>
            </a:pPr>
            <a:r>
              <a:t>What should the business do next?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Treat customer value as a key decision factor rather than relying only on overall sales.</a:t>
            </a:r>
          </a:p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Build retention strategies around the High Value segment.</a:t>
            </a:r>
          </a:p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Use category and city insights to make campaigns more targeted.</a:t>
            </a:r>
          </a:p>
          <a:p>
            <a:pPr>
              <a:spcAft>
                <a:spcPts val="1000"/>
              </a:spcAft>
              <a:defRPr sz="1800">
                <a:solidFill>
                  <a:srgbClr val="262630"/>
                </a:solidFill>
              </a:defRPr>
            </a:pPr>
            <a:r>
              <a:t>• Continue validating important assumptions with statistical tests before making major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417320"/>
            <a:ext cx="4480560" cy="3886200"/>
          </a:xfrm>
          <a:prstGeom prst="roundRect">
            <a:avLst/>
          </a:prstGeom>
          <a:solidFill>
            <a:srgbClr val="18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87451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E2FA"/>
                </a:solidFill>
              </a:defRPr>
            </a:pPr>
            <a:r>
              <a:t>FINAL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42316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Customer segmentation shows where value comes from.</a:t>
            </a:r>
            <a:br/>
            <a:br/>
            <a:r>
              <a:t>Statistical validation shows where we should be careful about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572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E2FA"/>
                </a:solidFill>
              </a:defRPr>
            </a:pPr>
            <a:r>
              <a:t>Next step → turn these insights into targeted actions and monitor the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6973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